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9" r:id="rId4"/>
    <p:sldId id="290" r:id="rId5"/>
    <p:sldId id="291" r:id="rId6"/>
    <p:sldId id="274" r:id="rId7"/>
    <p:sldId id="286" r:id="rId8"/>
    <p:sldId id="292" r:id="rId9"/>
  </p:sldIdLst>
  <p:sldSz cx="12192000" cy="6858000"/>
  <p:notesSz cx="6858000" cy="9144000"/>
  <p:defaultTextStyle>
    <a:defPPr>
      <a:defRPr lang="fr-T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210"/>
    <a:srgbClr val="00AA48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739" autoAdjust="0"/>
  </p:normalViewPr>
  <p:slideViewPr>
    <p:cSldViewPr snapToGrid="0">
      <p:cViewPr>
        <p:scale>
          <a:sx n="57" d="100"/>
          <a:sy n="57" d="100"/>
        </p:scale>
        <p:origin x="1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7" d="100"/>
          <a:sy n="47" d="100"/>
        </p:scale>
        <p:origin x="2784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650568D-90E7-5818-CF51-FC564C4868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TG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CCCDBD1-4A1A-9DAA-6C82-7A9478C07D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FF467-A6E1-4AEF-B3F8-ACD5A622A2C7}" type="datetimeFigureOut">
              <a:rPr lang="fr-TG" smtClean="0"/>
              <a:t>20 janv. 2026</a:t>
            </a:fld>
            <a:endParaRPr lang="fr-TG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D0BE4B8-7DF1-97E4-1176-5CFF34E78E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TG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557C621-D186-A19E-57F4-0CDF72BEEF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9A499-1914-442C-89C3-AA7AE431AD29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473617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TG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27F8E-A50F-4A87-A502-FA57154214C2}" type="datetimeFigureOut">
              <a:rPr lang="fr-TG" smtClean="0"/>
              <a:t>20 janv. 2026</a:t>
            </a:fld>
            <a:endParaRPr lang="fr-TG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TG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TG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70D0E-899C-457E-97AF-C5CF2D36FFFF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3315866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Précipitation pour augmenter l’impact sur le secteur agricole.</a:t>
            </a:r>
            <a:endParaRPr lang="fr-TG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70D0E-899C-457E-97AF-C5CF2D36FFFF}" type="slidenum">
              <a:rPr lang="fr-TG" smtClean="0"/>
              <a:t>7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2649632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5D3458-41BD-3C26-008D-396B9B20C7B5}"/>
              </a:ext>
            </a:extLst>
          </p:cNvPr>
          <p:cNvSpPr/>
          <p:nvPr userDrawn="1"/>
        </p:nvSpPr>
        <p:spPr>
          <a:xfrm>
            <a:off x="0" y="11185"/>
            <a:ext cx="12192000" cy="37528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43C8F3F-D40C-92B4-7745-0B014C94E6B3}"/>
              </a:ext>
            </a:extLst>
          </p:cNvPr>
          <p:cNvSpPr txBox="1"/>
          <p:nvPr userDrawn="1"/>
        </p:nvSpPr>
        <p:spPr>
          <a:xfrm>
            <a:off x="2786378" y="4338563"/>
            <a:ext cx="7253605" cy="46166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/>
              <a:t>Rédigé par Mlle </a:t>
            </a:r>
            <a:r>
              <a:rPr lang="fr-FR" sz="2400" b="1" dirty="0"/>
              <a:t>GBEDEVI </a:t>
            </a:r>
            <a:r>
              <a:rPr lang="fr-FR" sz="2400" b="1" dirty="0" err="1"/>
              <a:t>Yawa</a:t>
            </a:r>
            <a:r>
              <a:rPr lang="fr-FR" sz="2400" b="1" dirty="0"/>
              <a:t> Jacqueline</a:t>
            </a:r>
            <a:endParaRPr lang="fr-TG" sz="2400" b="1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F011D70-524B-A425-766F-975728463958}"/>
              </a:ext>
            </a:extLst>
          </p:cNvPr>
          <p:cNvSpPr/>
          <p:nvPr userDrawn="1"/>
        </p:nvSpPr>
        <p:spPr>
          <a:xfrm>
            <a:off x="2019300" y="2519437"/>
            <a:ext cx="8153400" cy="150732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800" b="1" kern="12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CAS D’ETUDE :</a:t>
            </a:r>
            <a:r>
              <a:rPr lang="fr-FR" sz="2800" kern="12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2800" b="1" kern="12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OPTIMISER LE RESEAU DE SERVICES PUBLICS POUR LA DELIVRANCE DE DOCUMENTS OFFICIELS </a:t>
            </a:r>
            <a:endParaRPr lang="fr-TG" sz="2800" kern="1200" dirty="0">
              <a:solidFill>
                <a:schemeClr val="lt1"/>
              </a:solidFill>
              <a:effectLst/>
              <a:latin typeface="+mn-lt"/>
              <a:ea typeface="+mn-ea"/>
              <a:cs typeface="+mn-cs"/>
            </a:endParaRPr>
          </a:p>
          <a:p>
            <a:pPr algn="ctr"/>
            <a:endParaRPr lang="fr-T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4CB535-E0A6-1FE6-9C9B-BCB093BCA64E}"/>
              </a:ext>
            </a:extLst>
          </p:cNvPr>
          <p:cNvSpPr/>
          <p:nvPr userDrawn="1"/>
        </p:nvSpPr>
        <p:spPr>
          <a:xfrm>
            <a:off x="3101338" y="11185"/>
            <a:ext cx="4925062" cy="132993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2219037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37D0B3-A6D6-A6AD-E552-2C6A6C19AD66}"/>
              </a:ext>
            </a:extLst>
          </p:cNvPr>
          <p:cNvSpPr/>
          <p:nvPr userDrawn="1"/>
        </p:nvSpPr>
        <p:spPr>
          <a:xfrm>
            <a:off x="0" y="0"/>
            <a:ext cx="12192000" cy="1057275"/>
          </a:xfrm>
          <a:prstGeom prst="rect">
            <a:avLst/>
          </a:prstGeom>
          <a:solidFill>
            <a:srgbClr val="00AA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/>
              <a:t>Plan</a:t>
            </a:r>
            <a:endParaRPr lang="fr-TG" sz="4000" b="1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5EF4B8F-23D6-918B-ED02-F8C9472BE415}"/>
              </a:ext>
            </a:extLst>
          </p:cNvPr>
          <p:cNvSpPr/>
          <p:nvPr userDrawn="1"/>
        </p:nvSpPr>
        <p:spPr>
          <a:xfrm>
            <a:off x="1219200" y="1339850"/>
            <a:ext cx="525600" cy="523875"/>
          </a:xfrm>
          <a:prstGeom prst="ellipse">
            <a:avLst/>
          </a:prstGeom>
          <a:solidFill>
            <a:srgbClr val="F8F2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1</a:t>
            </a:r>
            <a:endParaRPr lang="fr-TG" sz="24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41D8F03-D9F6-59ED-6A14-8C256303C36D}"/>
              </a:ext>
            </a:extLst>
          </p:cNvPr>
          <p:cNvSpPr/>
          <p:nvPr userDrawn="1"/>
        </p:nvSpPr>
        <p:spPr>
          <a:xfrm>
            <a:off x="1219200" y="2360215"/>
            <a:ext cx="525600" cy="523875"/>
          </a:xfrm>
          <a:prstGeom prst="ellipse">
            <a:avLst/>
          </a:prstGeom>
          <a:solidFill>
            <a:srgbClr val="F8F2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2</a:t>
            </a:r>
            <a:endParaRPr lang="fr-TG" sz="2400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C650017-F20C-B71E-27AC-AA2D360B3F02}"/>
              </a:ext>
            </a:extLst>
          </p:cNvPr>
          <p:cNvSpPr/>
          <p:nvPr userDrawn="1"/>
        </p:nvSpPr>
        <p:spPr>
          <a:xfrm>
            <a:off x="1219200" y="3362322"/>
            <a:ext cx="525600" cy="523875"/>
          </a:xfrm>
          <a:prstGeom prst="ellipse">
            <a:avLst/>
          </a:prstGeom>
          <a:solidFill>
            <a:srgbClr val="F8F2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3</a:t>
            </a:r>
            <a:endParaRPr lang="fr-TG" sz="2400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5CEA150-5B88-665D-4D09-142A8F181019}"/>
              </a:ext>
            </a:extLst>
          </p:cNvPr>
          <p:cNvSpPr/>
          <p:nvPr userDrawn="1"/>
        </p:nvSpPr>
        <p:spPr>
          <a:xfrm>
            <a:off x="1219200" y="4425950"/>
            <a:ext cx="525600" cy="523875"/>
          </a:xfrm>
          <a:prstGeom prst="ellipse">
            <a:avLst/>
          </a:prstGeom>
          <a:solidFill>
            <a:srgbClr val="F8F2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4</a:t>
            </a:r>
            <a:endParaRPr lang="fr-TG" sz="2400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64E6DC8-3D0E-4E7E-2B17-C26B93E61A41}"/>
              </a:ext>
            </a:extLst>
          </p:cNvPr>
          <p:cNvSpPr/>
          <p:nvPr userDrawn="1"/>
        </p:nvSpPr>
        <p:spPr>
          <a:xfrm>
            <a:off x="1219200" y="5518150"/>
            <a:ext cx="525600" cy="523875"/>
          </a:xfrm>
          <a:prstGeom prst="ellipse">
            <a:avLst/>
          </a:prstGeom>
          <a:solidFill>
            <a:srgbClr val="F8F2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5</a:t>
            </a:r>
            <a:endParaRPr lang="fr-TG" sz="2400" dirty="0"/>
          </a:p>
        </p:txBody>
      </p:sp>
    </p:spTree>
    <p:extLst>
      <p:ext uri="{BB962C8B-B14F-4D97-AF65-F5344CB8AC3E}">
        <p14:creationId xmlns:p14="http://schemas.microsoft.com/office/powerpoint/2010/main" val="3202108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72779F-2A83-297E-15F9-5737C9E38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9669A9-3E20-D529-3C16-ACADC2B1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AF6CB0-D4DD-5B8D-F500-43A41A4BE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0EBBC-DB0B-455B-9031-08A6564E3C14}" type="datetime1">
              <a:rPr lang="fr-TG" smtClean="0"/>
              <a:t>20 janv. 2026</a:t>
            </a:fld>
            <a:endParaRPr lang="fr-T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B461C2-B71B-2455-F156-ECC6879C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4FC6A0-0296-1ABE-5759-7C07A799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1573-634F-406D-B375-14EFE9FFCEED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331602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0A30C9-0BAB-A945-DB34-F494E189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18F1A1-7169-83C3-63F3-8F15180205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0A200D2-50C1-1F08-7381-E5E769C04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2EF8A3-3EEA-270B-A7A9-387A22781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BA71-53BD-4B43-A68B-F7F301C3FC8F}" type="datetime1">
              <a:rPr lang="fr-TG" smtClean="0"/>
              <a:t>20 janv. 2026</a:t>
            </a:fld>
            <a:endParaRPr lang="fr-T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801037-8399-3EB8-CD9C-C1E762B3B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2F095E-50D3-8A65-FCC9-9DEE91AF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1573-634F-406D-B375-14EFE9FFCEED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331250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C15300-FD5E-14CC-D19D-E923C1FA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EA809E6-7F45-C7B8-4465-97F634862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E35A5C-5B45-8843-2749-8B4268693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C63137D-C6D0-4E35-7815-65303AB0A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0092AD4-37B0-98BA-B02A-CA3256FB0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D75D357-6FDF-8185-59C9-D70DF4D1D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15463-15D0-44D2-8125-CAA35C318BF6}" type="datetime1">
              <a:rPr lang="fr-TG" smtClean="0"/>
              <a:t>20 janv. 2026</a:t>
            </a:fld>
            <a:endParaRPr lang="fr-TG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F18EC18-E287-EB85-7F43-6F02F88B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3B5F092-88EF-0C96-AB91-EAC658E61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1573-634F-406D-B375-14EFE9FFCEED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176342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A20A52-8931-35DC-B9DF-67BB340F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B90E-ED9F-4549-A51D-C83CC259788B}" type="datetime1">
              <a:rPr lang="fr-TG" smtClean="0"/>
              <a:t>20 janv. 2026</a:t>
            </a:fld>
            <a:endParaRPr lang="fr-TG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5FE4984-548A-0ACB-1DC1-7A67223E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3C794B-F8D0-3C61-B8EC-70A6D586E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4560" y="6151245"/>
            <a:ext cx="1036320" cy="706755"/>
          </a:xfrm>
          <a:prstGeom prst="hexagon">
            <a:avLst/>
          </a:prstGeom>
          <a:ln w="28575"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F81573-634F-406D-B375-14EFE9FFCEED}" type="slidenum">
              <a:rPr lang="fr-TG" smtClean="0"/>
              <a:pPr/>
              <a:t>‹N°›</a:t>
            </a:fld>
            <a:endParaRPr lang="fr-T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379A63-7714-7CD9-691D-8D0570CA55B8}"/>
              </a:ext>
            </a:extLst>
          </p:cNvPr>
          <p:cNvSpPr/>
          <p:nvPr userDrawn="1"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2835368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23E03FD-D457-13BC-2691-1E8BDA07C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BF9EA-DB9B-4EB4-A107-2E8CF3D1C087}" type="datetime1">
              <a:rPr lang="fr-TG" smtClean="0"/>
              <a:t>20 janv. 2026</a:t>
            </a:fld>
            <a:endParaRPr lang="fr-TG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9FB9052-1B68-D9C8-8A30-3A447748F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A76CB9-3709-FB4A-714B-06EAE77A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1573-634F-406D-B375-14EFE9FFCEED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1287924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E39B8-8FFB-2FFB-9AD7-8E016F7B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17D39F-9F63-5754-D737-52E8B7398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123DD9D-4A23-C460-8087-F0D583A55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90E9BA-8AA6-217E-C1CB-C25542B2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757F-ECDB-4030-AF59-25DB7C99CA05}" type="datetime1">
              <a:rPr lang="fr-TG" smtClean="0"/>
              <a:t>20 janv. 2026</a:t>
            </a:fld>
            <a:endParaRPr lang="fr-T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72843C-C947-08B2-B218-35D2CFCB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EAE22C-1023-3AC0-22F0-C7E175DF9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1573-634F-406D-B375-14EFE9FFCEED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1631936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82261F-1C54-0220-9093-BB591E9EF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1CD6EBA-1B3B-5F54-92A3-3B31EA46F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T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0B895F-7C40-1AFA-0E43-BDD3CAD48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721061F-969A-72B9-8944-1ADAF392E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65CBA-A01D-409E-AC49-946B47B4F7C4}" type="datetime1">
              <a:rPr lang="fr-TG" smtClean="0"/>
              <a:t>20 janv. 2026</a:t>
            </a:fld>
            <a:endParaRPr lang="fr-T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75F202-D2F4-A7B3-EE4D-91E8C163D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F68F6E-0CEF-9071-A4E3-300E2A3E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1573-634F-406D-B375-14EFE9FFCEED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858607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686F37-2ED7-2FBA-A849-FEB02FDD3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36D561-4235-8EC7-46EA-B93500819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187452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72F603-78DB-1D10-74A1-CE5489CEA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C7CC-0651-4E16-950E-3562F27C3CAD}" type="datetime1">
              <a:rPr lang="fr-TG" smtClean="0"/>
              <a:t>20 janv. 2026</a:t>
            </a:fld>
            <a:endParaRPr lang="fr-T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7520BA-532E-144E-0CFC-FA9B6648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013B3A-AB5D-F696-AA1B-3B48F381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1573-634F-406D-B375-14EFE9FFCEED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4244166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8A38F09-8A54-CFE8-D0AB-8D669529F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F4F34A3-8065-0173-FBBC-36BEE9417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D3ED8C-6F86-FFB2-636D-7145CB6D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84269-8C33-416C-92CB-057DD8C98544}" type="datetime1">
              <a:rPr lang="fr-TG" smtClean="0"/>
              <a:t>20 janv. 2026</a:t>
            </a:fld>
            <a:endParaRPr lang="fr-T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AFC037-3455-FFFC-5D82-0F99E7DF8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53898A-89A9-84D6-74C4-EC6BAF65F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1573-634F-406D-B375-14EFE9FFCEED}" type="slidenum">
              <a:rPr lang="fr-TG" smtClean="0"/>
              <a:t>‹N°›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3394278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3F8E461-4A5B-FF51-BDEB-DE5879DF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T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0B3CA0-9D3C-AC64-FD11-C922125EA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34CBD-2D60-495F-BB52-560BC558C625}" type="datetime1">
              <a:rPr lang="fr-TG" smtClean="0"/>
              <a:t>20 janv. 2026</a:t>
            </a:fld>
            <a:endParaRPr lang="fr-T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973EC9-C5BE-9649-1758-912C26BDF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T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95C990-8E2C-F0F4-2CD0-34BD8B91A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2480" y="6014720"/>
            <a:ext cx="1036320" cy="7067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fld id="{D5F81573-634F-406D-B375-14EFE9FFCEED}" type="slidenum">
              <a:rPr lang="fr-TG" smtClean="0"/>
              <a:pPr/>
              <a:t>‹N°›</a:t>
            </a:fld>
            <a:endParaRPr lang="fr-TG" dirty="0"/>
          </a:p>
        </p:txBody>
      </p:sp>
    </p:spTree>
    <p:extLst>
      <p:ext uri="{BB962C8B-B14F-4D97-AF65-F5344CB8AC3E}">
        <p14:creationId xmlns:p14="http://schemas.microsoft.com/office/powerpoint/2010/main" val="373964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T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098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B998DC1-FFAA-74CB-07D2-86CF33845986}"/>
              </a:ext>
            </a:extLst>
          </p:cNvPr>
          <p:cNvSpPr txBox="1"/>
          <p:nvPr/>
        </p:nvSpPr>
        <p:spPr>
          <a:xfrm>
            <a:off x="1931542" y="1325366"/>
            <a:ext cx="4859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TG" sz="2800" b="1" noProof="0" dirty="0"/>
              <a:t>Contexte</a:t>
            </a:r>
            <a:r>
              <a:rPr lang="en-US" sz="2800" b="1" noProof="0" dirty="0"/>
              <a:t> et </a:t>
            </a:r>
            <a:r>
              <a:rPr lang="en-US" sz="2800" b="1" noProof="0" dirty="0" err="1"/>
              <a:t>enjeux</a:t>
            </a:r>
            <a:endParaRPr lang="en-US" sz="2800" b="1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1B4E898-5D45-017F-00DD-F8FF08CDC485}"/>
              </a:ext>
            </a:extLst>
          </p:cNvPr>
          <p:cNvSpPr txBox="1"/>
          <p:nvPr/>
        </p:nvSpPr>
        <p:spPr>
          <a:xfrm>
            <a:off x="1931542" y="2342508"/>
            <a:ext cx="5126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Démarche </a:t>
            </a:r>
            <a:r>
              <a:rPr lang="en-US" sz="2800" b="1" dirty="0" err="1"/>
              <a:t>Analytique</a:t>
            </a:r>
            <a:endParaRPr lang="fr-TG" sz="2800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B143014-BF88-1098-3553-1A0AD5FEA806}"/>
              </a:ext>
            </a:extLst>
          </p:cNvPr>
          <p:cNvSpPr txBox="1"/>
          <p:nvPr/>
        </p:nvSpPr>
        <p:spPr>
          <a:xfrm>
            <a:off x="1931542" y="3359650"/>
            <a:ext cx="40171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TG" sz="2800" b="1" dirty="0"/>
              <a:t>KPI Clés</a:t>
            </a:r>
            <a:endParaRPr lang="fr-TG" sz="5400" b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5C28B96-3DDC-A825-CFB7-27B23B79FA06}"/>
              </a:ext>
            </a:extLst>
          </p:cNvPr>
          <p:cNvSpPr txBox="1"/>
          <p:nvPr/>
        </p:nvSpPr>
        <p:spPr>
          <a:xfrm>
            <a:off x="1955517" y="4404978"/>
            <a:ext cx="5013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Principaux</a:t>
            </a:r>
            <a:r>
              <a:rPr lang="en-US" sz="2800" b="1" dirty="0"/>
              <a:t> Constats et Insights</a:t>
            </a:r>
            <a:endParaRPr lang="fr-TG" sz="2800" b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C5140FB-1ECC-D7DC-71D9-112751164A17}"/>
              </a:ext>
            </a:extLst>
          </p:cNvPr>
          <p:cNvSpPr txBox="1"/>
          <p:nvPr/>
        </p:nvSpPr>
        <p:spPr>
          <a:xfrm>
            <a:off x="1931542" y="5532634"/>
            <a:ext cx="4240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Recommandations</a:t>
            </a:r>
            <a:endParaRPr lang="fr-TG" sz="2800" b="1" dirty="0"/>
          </a:p>
        </p:txBody>
      </p:sp>
    </p:spTree>
    <p:extLst>
      <p:ext uri="{BB962C8B-B14F-4D97-AF65-F5344CB8AC3E}">
        <p14:creationId xmlns:p14="http://schemas.microsoft.com/office/powerpoint/2010/main" val="298187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3FDAA92-D407-1905-F330-F0D40ABA9C49}"/>
              </a:ext>
            </a:extLst>
          </p:cNvPr>
          <p:cNvSpPr txBox="1"/>
          <p:nvPr/>
        </p:nvSpPr>
        <p:spPr>
          <a:xfrm>
            <a:off x="2276841" y="-53464"/>
            <a:ext cx="7253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solidFill>
                  <a:schemeClr val="bg1"/>
                </a:solidFill>
              </a:rPr>
              <a:t>Contexte</a:t>
            </a:r>
            <a:r>
              <a:rPr lang="en-US" sz="4000" dirty="0">
                <a:solidFill>
                  <a:schemeClr val="bg1"/>
                </a:solidFill>
              </a:rPr>
              <a:t> et </a:t>
            </a:r>
            <a:r>
              <a:rPr lang="en-US" sz="4000" dirty="0" err="1">
                <a:solidFill>
                  <a:schemeClr val="bg1"/>
                </a:solidFill>
              </a:rPr>
              <a:t>Enjeux</a:t>
            </a:r>
            <a:endParaRPr lang="fr-TG" sz="4000" b="1" noProof="0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2F0066-1962-B9CF-3BA4-C884C1C028C6}"/>
              </a:ext>
            </a:extLst>
          </p:cNvPr>
          <p:cNvSpPr/>
          <p:nvPr/>
        </p:nvSpPr>
        <p:spPr>
          <a:xfrm>
            <a:off x="400692" y="821888"/>
            <a:ext cx="11373492" cy="56119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 noProof="0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97F05ECC-137B-6A4D-CFCA-8E9D4B3CD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8390" y="6257581"/>
            <a:ext cx="762489" cy="600420"/>
          </a:xfrm>
        </p:spPr>
        <p:txBody>
          <a:bodyPr/>
          <a:lstStyle/>
          <a:p>
            <a:fld id="{D5F81573-634F-406D-B375-14EFE9FFCEED}" type="slidenum">
              <a:rPr lang="fr-TG" smtClean="0"/>
              <a:t>3</a:t>
            </a:fld>
            <a:endParaRPr lang="fr-TG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F925F1C-FFF4-6F28-5B7A-A5186C2FA2AD}"/>
              </a:ext>
            </a:extLst>
          </p:cNvPr>
          <p:cNvSpPr txBox="1"/>
          <p:nvPr/>
        </p:nvSpPr>
        <p:spPr>
          <a:xfrm>
            <a:off x="965453" y="1288767"/>
            <a:ext cx="1003609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TG" sz="2800" b="1" dirty="0"/>
              <a:t>Contexte :</a:t>
            </a:r>
            <a:r>
              <a:rPr lang="fr-TG" sz="2800" dirty="0"/>
              <a:t> Service</a:t>
            </a:r>
            <a:r>
              <a:rPr lang="fr-FR" sz="2800" dirty="0"/>
              <a:t>s</a:t>
            </a:r>
            <a:r>
              <a:rPr lang="fr-TG" sz="2800" dirty="0"/>
              <a:t> public → traitement de demandes administratives</a:t>
            </a:r>
            <a:endParaRPr lang="fr-FR" sz="2800" dirty="0"/>
          </a:p>
          <a:p>
            <a:pPr lvl="0"/>
            <a:endParaRPr lang="fr-TG" sz="2800" dirty="0"/>
          </a:p>
          <a:p>
            <a:pPr lvl="0"/>
            <a:r>
              <a:rPr lang="fr-TG" sz="2800" b="1" dirty="0"/>
              <a:t>Enjeu :</a:t>
            </a:r>
            <a:r>
              <a:rPr lang="fr-TG" sz="2800" dirty="0"/>
              <a:t> performance, qualité, accessibilité, équité territoriale</a:t>
            </a:r>
            <a:endParaRPr lang="fr-FR" sz="2800" dirty="0"/>
          </a:p>
          <a:p>
            <a:pPr lvl="0"/>
            <a:endParaRPr lang="fr-TG" sz="2800" dirty="0"/>
          </a:p>
          <a:p>
            <a:pPr lvl="0"/>
            <a:r>
              <a:rPr lang="fr-TG" sz="2800" b="1" dirty="0"/>
              <a:t>Problématique :</a:t>
            </a:r>
            <a:r>
              <a:rPr lang="fr-TG" sz="2800" dirty="0"/>
              <a:t> volumes croissants, délais longs, </a:t>
            </a:r>
            <a:r>
              <a:rPr lang="fr-FR" sz="2800" dirty="0"/>
              <a:t>charge de travail élevée</a:t>
            </a:r>
            <a:r>
              <a:rPr lang="fr-TG" sz="2800" dirty="0"/>
              <a:t>, couverture inégale</a:t>
            </a:r>
            <a:r>
              <a:rPr lang="fr-FR" sz="2800" dirty="0"/>
              <a:t>.</a:t>
            </a:r>
          </a:p>
          <a:p>
            <a:pPr lvl="0"/>
            <a:endParaRPr lang="fr-TG" sz="2800" dirty="0"/>
          </a:p>
          <a:p>
            <a:pPr lvl="0"/>
            <a:r>
              <a:rPr lang="fr-TG" sz="2800" b="1" dirty="0"/>
              <a:t>Question clé :</a:t>
            </a:r>
            <a:r>
              <a:rPr lang="fr-TG" sz="2800" dirty="0"/>
              <a:t> comment optimiser le dispositif pour mieux servir les usagers ?</a:t>
            </a:r>
          </a:p>
          <a:p>
            <a:endParaRPr lang="fr-TG" dirty="0"/>
          </a:p>
        </p:txBody>
      </p:sp>
    </p:spTree>
    <p:extLst>
      <p:ext uri="{BB962C8B-B14F-4D97-AF65-F5344CB8AC3E}">
        <p14:creationId xmlns:p14="http://schemas.microsoft.com/office/powerpoint/2010/main" val="2690638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A067F-80CE-3FDA-546C-69267E0A6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40FA0F0-EDDA-26E3-8453-FB8C4C47D265}"/>
              </a:ext>
            </a:extLst>
          </p:cNvPr>
          <p:cNvSpPr txBox="1"/>
          <p:nvPr/>
        </p:nvSpPr>
        <p:spPr>
          <a:xfrm>
            <a:off x="2276841" y="-53464"/>
            <a:ext cx="7253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Démarche </a:t>
            </a:r>
            <a:r>
              <a:rPr lang="en-US" sz="4000" dirty="0" err="1">
                <a:solidFill>
                  <a:schemeClr val="bg1"/>
                </a:solidFill>
              </a:rPr>
              <a:t>Analytique</a:t>
            </a:r>
            <a:endParaRPr lang="fr-TG" sz="4000" b="1" noProof="0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A27EEC-90CA-C7E0-C9EC-3428DD4B7FDA}"/>
              </a:ext>
            </a:extLst>
          </p:cNvPr>
          <p:cNvSpPr/>
          <p:nvPr/>
        </p:nvSpPr>
        <p:spPr>
          <a:xfrm>
            <a:off x="400692" y="821888"/>
            <a:ext cx="11373492" cy="56119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 noProof="0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48D9C90-2187-FA1F-0E4E-81EB20997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8390" y="6257581"/>
            <a:ext cx="762489" cy="600420"/>
          </a:xfrm>
        </p:spPr>
        <p:txBody>
          <a:bodyPr/>
          <a:lstStyle/>
          <a:p>
            <a:fld id="{D5F81573-634F-406D-B375-14EFE9FFCEED}" type="slidenum">
              <a:rPr lang="fr-TG" smtClean="0"/>
              <a:t>4</a:t>
            </a:fld>
            <a:endParaRPr lang="fr-TG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288117F-D9E6-822E-5D3D-D6E8AAA5F7DF}"/>
              </a:ext>
            </a:extLst>
          </p:cNvPr>
          <p:cNvSpPr txBox="1"/>
          <p:nvPr/>
        </p:nvSpPr>
        <p:spPr>
          <a:xfrm>
            <a:off x="765217" y="2013228"/>
            <a:ext cx="1027680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Données</a:t>
            </a:r>
            <a:r>
              <a:rPr lang="fr-FR" sz="3200" dirty="0"/>
              <a:t> : centres, logs, </a:t>
            </a:r>
            <a:r>
              <a:rPr lang="fr-FR" sz="3200" dirty="0" err="1"/>
              <a:t>communes,demandes</a:t>
            </a:r>
            <a:r>
              <a:rPr lang="fr-FR" sz="3200" dirty="0"/>
              <a:t>, démographie.</a:t>
            </a:r>
          </a:p>
          <a:p>
            <a:endParaRPr lang="fr-FR" sz="3200" dirty="0"/>
          </a:p>
          <a:p>
            <a:r>
              <a:rPr lang="fr-FR" sz="3200" b="1" dirty="0"/>
              <a:t>Travail</a:t>
            </a:r>
            <a:r>
              <a:rPr lang="fr-FR" sz="3200" dirty="0"/>
              <a:t> : EDA, nettoyage, définition KPI</a:t>
            </a:r>
          </a:p>
          <a:p>
            <a:endParaRPr lang="fr-FR" sz="3200" dirty="0"/>
          </a:p>
          <a:p>
            <a:r>
              <a:rPr lang="fr-FR" sz="3200" dirty="0"/>
              <a:t> </a:t>
            </a:r>
            <a:r>
              <a:rPr lang="fr-FR" sz="3200" b="1" dirty="0"/>
              <a:t>Objectif</a:t>
            </a:r>
            <a:r>
              <a:rPr lang="fr-FR" sz="3200" dirty="0"/>
              <a:t> : produire des données fiables pour le pilotage</a:t>
            </a:r>
            <a:endParaRPr lang="fr-FR" sz="2800" dirty="0"/>
          </a:p>
          <a:p>
            <a:endParaRPr lang="fr-TG" dirty="0"/>
          </a:p>
        </p:txBody>
      </p:sp>
    </p:spTree>
    <p:extLst>
      <p:ext uri="{BB962C8B-B14F-4D97-AF65-F5344CB8AC3E}">
        <p14:creationId xmlns:p14="http://schemas.microsoft.com/office/powerpoint/2010/main" val="3511488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68BAC-049D-7974-5DB4-9B64C3800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0D7E1FF-3BD6-BE6B-BFFB-374F609F233B}"/>
              </a:ext>
            </a:extLst>
          </p:cNvPr>
          <p:cNvSpPr txBox="1"/>
          <p:nvPr/>
        </p:nvSpPr>
        <p:spPr>
          <a:xfrm>
            <a:off x="2276841" y="-53464"/>
            <a:ext cx="7253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TG" sz="4000" dirty="0">
                <a:solidFill>
                  <a:schemeClr val="bg1"/>
                </a:solidFill>
              </a:rPr>
              <a:t>KPI Clés</a:t>
            </a:r>
            <a:endParaRPr lang="fr-TG" sz="7200" b="1" noProof="0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EDF818-2BE3-CCEC-AA06-A2F06A4C7E47}"/>
              </a:ext>
            </a:extLst>
          </p:cNvPr>
          <p:cNvSpPr/>
          <p:nvPr/>
        </p:nvSpPr>
        <p:spPr>
          <a:xfrm>
            <a:off x="400692" y="821888"/>
            <a:ext cx="11373492" cy="56119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 noProof="0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D8021FD7-BABE-B3B8-8E44-F2AF6BF6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8390" y="6257581"/>
            <a:ext cx="762489" cy="600420"/>
          </a:xfrm>
        </p:spPr>
        <p:txBody>
          <a:bodyPr/>
          <a:lstStyle/>
          <a:p>
            <a:fld id="{D5F81573-634F-406D-B375-14EFE9FFCEED}" type="slidenum">
              <a:rPr lang="fr-TG" smtClean="0"/>
              <a:t>5</a:t>
            </a:fld>
            <a:endParaRPr lang="fr-TG"/>
          </a:p>
        </p:txBody>
      </p:sp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F42D7390-380C-4ED1-E6E3-D6EC53283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994777"/>
              </p:ext>
            </p:extLst>
          </p:nvPr>
        </p:nvGraphicFramePr>
        <p:xfrm>
          <a:off x="791737" y="1388739"/>
          <a:ext cx="10566654" cy="40843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522218">
                  <a:extLst>
                    <a:ext uri="{9D8B030D-6E8A-4147-A177-3AD203B41FA5}">
                      <a16:colId xmlns:a16="http://schemas.microsoft.com/office/drawing/2014/main" val="3062593804"/>
                    </a:ext>
                  </a:extLst>
                </a:gridCol>
                <a:gridCol w="3522218">
                  <a:extLst>
                    <a:ext uri="{9D8B030D-6E8A-4147-A177-3AD203B41FA5}">
                      <a16:colId xmlns:a16="http://schemas.microsoft.com/office/drawing/2014/main" val="1948189882"/>
                    </a:ext>
                  </a:extLst>
                </a:gridCol>
                <a:gridCol w="3522218">
                  <a:extLst>
                    <a:ext uri="{9D8B030D-6E8A-4147-A177-3AD203B41FA5}">
                      <a16:colId xmlns:a16="http://schemas.microsoft.com/office/drawing/2014/main" val="3932170889"/>
                    </a:ext>
                  </a:extLst>
                </a:gridCol>
              </a:tblGrid>
              <a:tr h="795000">
                <a:tc>
                  <a:txBody>
                    <a:bodyPr/>
                    <a:lstStyle/>
                    <a:p>
                      <a:r>
                        <a:rPr lang="en-US" sz="3200" dirty="0"/>
                        <a:t>KPI</a:t>
                      </a:r>
                      <a:endParaRPr lang="fr-TG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Finalité</a:t>
                      </a:r>
                      <a:r>
                        <a:rPr lang="en-US" sz="3200" dirty="0"/>
                        <a:t> </a:t>
                      </a:r>
                      <a:r>
                        <a:rPr lang="en-US" sz="3200" dirty="0" err="1"/>
                        <a:t>analytique</a:t>
                      </a:r>
                      <a:endParaRPr lang="fr-TG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 err="1"/>
                        <a:t>Interprétation</a:t>
                      </a:r>
                      <a:r>
                        <a:rPr lang="en-US" sz="3200" b="1" dirty="0"/>
                        <a:t> </a:t>
                      </a:r>
                      <a:r>
                        <a:rPr lang="en-US" sz="3200" b="1" dirty="0" err="1"/>
                        <a:t>décisionnelle</a:t>
                      </a:r>
                      <a:endParaRPr 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372443"/>
                  </a:ext>
                </a:extLst>
              </a:tr>
              <a:tr h="795000">
                <a:tc>
                  <a:txBody>
                    <a:bodyPr/>
                    <a:lstStyle/>
                    <a:p>
                      <a:r>
                        <a:rPr lang="fr-FR" sz="2000" dirty="0"/>
                        <a:t>Délai Moyen de Traitement (jours)</a:t>
                      </a:r>
                      <a:endParaRPr lang="fr-T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Mesurer</a:t>
                      </a:r>
                      <a:r>
                        <a:rPr lang="en-US" sz="2000" dirty="0"/>
                        <a:t> la performance interne</a:t>
                      </a:r>
                      <a:endParaRPr lang="fr-T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/>
                        <a:t>&gt;15 jours = risque d’insatisfaction usager et ralentissement administratif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350328"/>
                  </a:ext>
                </a:extLst>
              </a:tr>
              <a:tr h="795000">
                <a:tc>
                  <a:txBody>
                    <a:bodyPr/>
                    <a:lstStyle/>
                    <a:p>
                      <a:r>
                        <a:rPr lang="en-US" sz="2000" dirty="0" err="1"/>
                        <a:t>Taux</a:t>
                      </a:r>
                      <a:r>
                        <a:rPr lang="en-US" sz="2000" dirty="0"/>
                        <a:t> de Couverture </a:t>
                      </a:r>
                      <a:r>
                        <a:rPr lang="en-US" sz="2000" dirty="0" err="1"/>
                        <a:t>Territoriale</a:t>
                      </a:r>
                      <a:r>
                        <a:rPr lang="en-US" sz="2000" dirty="0"/>
                        <a:t> (%)</a:t>
                      </a:r>
                      <a:endParaRPr lang="fr-T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Mesurer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l’accessibilité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géographique</a:t>
                      </a:r>
                      <a:endParaRPr lang="fr-T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/>
                        <a:t>Faible taux = nécessité de centres mobiles / dématérialisation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6882090"/>
                  </a:ext>
                </a:extLst>
              </a:tr>
              <a:tr h="795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0" dirty="0"/>
                        <a:t>Taux de Saturation Mensuelle des Centres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Mesurer</a:t>
                      </a:r>
                      <a:r>
                        <a:rPr lang="en-US" sz="2000" dirty="0"/>
                        <a:t> la pression </a:t>
                      </a:r>
                      <a:r>
                        <a:rPr lang="en-US" sz="2000" dirty="0" err="1"/>
                        <a:t>opérationnelle</a:t>
                      </a:r>
                      <a:endParaRPr lang="fr-T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/>
                        <a:t>&gt;100% = centre sous-dimensionné, nécessite renfort ou redéploiement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567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07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62437406-F144-67CC-081D-E0D5D8A47E3E}"/>
              </a:ext>
            </a:extLst>
          </p:cNvPr>
          <p:cNvCxnSpPr>
            <a:cxnSpLocks/>
          </p:cNvCxnSpPr>
          <p:nvPr/>
        </p:nvCxnSpPr>
        <p:spPr>
          <a:xfrm>
            <a:off x="5838940" y="1322024"/>
            <a:ext cx="0" cy="52991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667181A7-C367-97CC-61EA-530CFA687AE1}"/>
              </a:ext>
            </a:extLst>
          </p:cNvPr>
          <p:cNvSpPr/>
          <p:nvPr/>
        </p:nvSpPr>
        <p:spPr>
          <a:xfrm>
            <a:off x="6392997" y="947854"/>
            <a:ext cx="5628018" cy="550870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4C784339-AF80-AF51-6F87-DB2BD13DF508}"/>
              </a:ext>
            </a:extLst>
          </p:cNvPr>
          <p:cNvSpPr txBox="1"/>
          <p:nvPr/>
        </p:nvSpPr>
        <p:spPr>
          <a:xfrm>
            <a:off x="6411951" y="1417488"/>
            <a:ext cx="5609064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TG" sz="2400" dirty="0"/>
              <a:t>Forte concentration des demandes par r</a:t>
            </a:r>
            <a:r>
              <a:rPr lang="en-US" sz="2400" dirty="0"/>
              <a:t>e</a:t>
            </a:r>
            <a:r>
              <a:rPr lang="fr-TG" sz="2400" dirty="0" err="1"/>
              <a:t>gion</a:t>
            </a:r>
            <a:r>
              <a:rPr lang="en-US" sz="2400" dirty="0"/>
              <a:t>(</a:t>
            </a:r>
            <a:r>
              <a:rPr lang="fr-TG" sz="2400" dirty="0"/>
              <a:t>Kara, Plateaux, Maritime et Centrale </a:t>
            </a:r>
            <a:r>
              <a:rPr lang="en-US" sz="2400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TG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TG" sz="2400" dirty="0"/>
              <a:t>Délai moyen élevé</a:t>
            </a:r>
            <a:r>
              <a:rPr lang="fr-FR" sz="2400" dirty="0"/>
              <a:t> de traitement </a:t>
            </a:r>
            <a:r>
              <a:rPr lang="fr-TG" sz="2400" dirty="0"/>
              <a:t> (~20 jours)</a:t>
            </a:r>
            <a:endParaRPr lang="en-US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TG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TG" sz="2400" dirty="0"/>
              <a:t>Centres </a:t>
            </a:r>
            <a:r>
              <a:rPr lang="fr-FR" sz="2400" dirty="0"/>
              <a:t>ayant une charge de travail </a:t>
            </a:r>
            <a:r>
              <a:rPr lang="fr-FR" sz="2400" dirty="0" err="1"/>
              <a:t>élévés</a:t>
            </a:r>
            <a:r>
              <a:rPr lang="fr-FR" sz="2400" dirty="0"/>
              <a:t> :</a:t>
            </a:r>
            <a:r>
              <a:rPr lang="fr-TG" sz="2400" dirty="0" err="1"/>
              <a:t>satur</a:t>
            </a:r>
            <a:r>
              <a:rPr lang="en-US" sz="2400" dirty="0" err="1"/>
              <a:t>ation</a:t>
            </a:r>
            <a:r>
              <a:rPr lang="fr-TG" sz="2400" dirty="0"/>
              <a:t> &gt; 200% dans </a:t>
            </a:r>
            <a:r>
              <a:rPr lang="en-US" sz="2400" dirty="0"/>
              <a:t>les </a:t>
            </a:r>
            <a:r>
              <a:rPr lang="en-US" sz="2400" dirty="0" err="1"/>
              <a:t>centres</a:t>
            </a:r>
            <a:r>
              <a:rPr lang="en-US" sz="2400" dirty="0"/>
              <a:t> </a:t>
            </a:r>
            <a:r>
              <a:rPr lang="fr-FR" sz="2400" dirty="0"/>
              <a:t>“centre </a:t>
            </a:r>
            <a:r>
              <a:rPr lang="fr-FR" sz="2400" dirty="0" err="1"/>
              <a:t>Bafilo</a:t>
            </a:r>
            <a:r>
              <a:rPr lang="fr-FR" sz="2400" dirty="0"/>
              <a:t>, centre </a:t>
            </a:r>
            <a:r>
              <a:rPr lang="fr-FR" sz="2400" dirty="0" err="1"/>
              <a:t>blitta</a:t>
            </a:r>
            <a:r>
              <a:rPr lang="fr-FR" sz="2400" dirty="0"/>
              <a:t> gare, centre </a:t>
            </a:r>
            <a:r>
              <a:rPr lang="fr-FR" sz="2400" dirty="0" err="1"/>
              <a:t>amlamé</a:t>
            </a:r>
            <a:r>
              <a:rPr lang="fr-FR" sz="2400" dirty="0"/>
              <a:t>, centre </a:t>
            </a:r>
            <a:r>
              <a:rPr lang="fr-FR" sz="2400" dirty="0" err="1"/>
              <a:t>niamtougou</a:t>
            </a:r>
            <a:r>
              <a:rPr lang="fr-FR" sz="2400" dirty="0"/>
              <a:t>”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TG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TG" sz="2400" dirty="0"/>
              <a:t>Couverture territoriale faible (~14%)</a:t>
            </a:r>
            <a:endParaRPr lang="fr-TG" dirty="0"/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fr-TG" dirty="0"/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2DA6BF39-DFE0-9EA6-77D9-375A7877268F}"/>
              </a:ext>
            </a:extLst>
          </p:cNvPr>
          <p:cNvSpPr txBox="1"/>
          <p:nvPr/>
        </p:nvSpPr>
        <p:spPr>
          <a:xfrm>
            <a:off x="1806766" y="0"/>
            <a:ext cx="8207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solidFill>
                  <a:schemeClr val="bg1"/>
                </a:solidFill>
              </a:rPr>
              <a:t>Principaux</a:t>
            </a:r>
            <a:r>
              <a:rPr lang="en-US" sz="3600" dirty="0">
                <a:solidFill>
                  <a:schemeClr val="bg1"/>
                </a:solidFill>
              </a:rPr>
              <a:t> Constats et Insights</a:t>
            </a:r>
            <a:endParaRPr lang="fr-TG" sz="3600" dirty="0">
              <a:solidFill>
                <a:schemeClr val="bg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962079B-EE25-0CAF-6521-AA01A6C9A4F4}"/>
              </a:ext>
            </a:extLst>
          </p:cNvPr>
          <p:cNvSpPr/>
          <p:nvPr/>
        </p:nvSpPr>
        <p:spPr>
          <a:xfrm>
            <a:off x="0" y="646331"/>
            <a:ext cx="6311590" cy="62116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84659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EC219AF-A873-E9EE-2EF4-48865D0A3874}"/>
              </a:ext>
            </a:extLst>
          </p:cNvPr>
          <p:cNvSpPr txBox="1"/>
          <p:nvPr/>
        </p:nvSpPr>
        <p:spPr>
          <a:xfrm>
            <a:off x="3194487" y="-133815"/>
            <a:ext cx="59829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Recommendations</a:t>
            </a:r>
            <a:endParaRPr lang="fr-TG" sz="4400" b="1" dirty="0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308B8FA-6DDA-4CCC-CD8C-743376151A67}"/>
              </a:ext>
            </a:extLst>
          </p:cNvPr>
          <p:cNvSpPr txBox="1"/>
          <p:nvPr/>
        </p:nvSpPr>
        <p:spPr>
          <a:xfrm>
            <a:off x="417789" y="1605454"/>
            <a:ext cx="3701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Recommandations</a:t>
            </a:r>
            <a:r>
              <a:rPr lang="en-US" sz="2800" b="1" dirty="0"/>
              <a:t>:</a:t>
            </a:r>
            <a:endParaRPr lang="fr-TG" sz="2800" b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4AE75E-1649-BCAC-577D-D29DD9B65D00}"/>
              </a:ext>
            </a:extLst>
          </p:cNvPr>
          <p:cNvSpPr txBox="1"/>
          <p:nvPr/>
        </p:nvSpPr>
        <p:spPr>
          <a:xfrm>
            <a:off x="3991094" y="880624"/>
            <a:ext cx="761162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TG" sz="2400" dirty="0"/>
              <a:t>Renforcer le personnel dans les centres en surcharge chronique (&gt;100%)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TG" sz="2400" dirty="0"/>
              <a:t> Redéployer des agents des centres sous-utilisés (&lt;50%)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TG" sz="2400" dirty="0"/>
              <a:t>Mettre en place une planification basée sur la saisonnalité des demandes</a:t>
            </a:r>
            <a:endParaRPr lang="en-US" sz="2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TG" sz="2400" dirty="0"/>
              <a:t>Déployer des guichets mobiles dans les zones rurales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TG" sz="2400" dirty="0"/>
              <a:t>Accélérer la dématérialisation des dépôts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TG" sz="2400" dirty="0"/>
              <a:t> Prioriser l’installation de nouveaux centres dans les régions non couvertes</a:t>
            </a:r>
            <a:endParaRPr lang="fr-TG" sz="2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fr-T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fr-TG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7A76676-7F5C-A78F-95EB-E76F79CA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1573-634F-406D-B375-14EFE9FFCEED}" type="slidenum">
              <a:rPr lang="fr-TG" smtClean="0"/>
              <a:t>7</a:t>
            </a:fld>
            <a:endParaRPr lang="fr-TG"/>
          </a:p>
        </p:txBody>
      </p:sp>
    </p:spTree>
    <p:extLst>
      <p:ext uri="{BB962C8B-B14F-4D97-AF65-F5344CB8AC3E}">
        <p14:creationId xmlns:p14="http://schemas.microsoft.com/office/powerpoint/2010/main" val="325900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F423B0A-BAD4-29CF-DA6A-A32965BFD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81573-634F-406D-B375-14EFE9FFCEED}" type="slidenum">
              <a:rPr lang="fr-TG" smtClean="0"/>
              <a:t>8</a:t>
            </a:fld>
            <a:endParaRPr lang="fr-TG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F323BCB-8CF7-B4B8-2DBD-F66ECED98D84}"/>
              </a:ext>
            </a:extLst>
          </p:cNvPr>
          <p:cNvSpPr txBox="1"/>
          <p:nvPr/>
        </p:nvSpPr>
        <p:spPr>
          <a:xfrm>
            <a:off x="3018263" y="1351508"/>
            <a:ext cx="61554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800" dirty="0">
                <a:latin typeface="Algerian" panose="04020705040A02060702" pitchFamily="82" charset="0"/>
              </a:rPr>
              <a:t>MERCI DE VOTRE ATTENTION</a:t>
            </a:r>
            <a:endParaRPr lang="fr-TG" sz="8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7461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27171</TotalTime>
  <Words>307</Words>
  <Application>Microsoft Office PowerPoint</Application>
  <PresentationFormat>Grand écran</PresentationFormat>
  <Paragraphs>58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Algerian</vt:lpstr>
      <vt:lpstr>Arial</vt:lpstr>
      <vt:lpstr>Arial Black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gbedevi</dc:creator>
  <cp:lastModifiedBy>jacqueline gbedevi</cp:lastModifiedBy>
  <cp:revision>19</cp:revision>
  <dcterms:created xsi:type="dcterms:W3CDTF">2025-09-09T01:48:13Z</dcterms:created>
  <dcterms:modified xsi:type="dcterms:W3CDTF">2026-01-20T18:32:39Z</dcterms:modified>
</cp:coreProperties>
</file>